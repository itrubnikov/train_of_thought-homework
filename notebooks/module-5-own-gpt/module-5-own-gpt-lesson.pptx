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ОТ НУЛЯ ДО СВОИХ АГЕНТОВ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3504" y="18745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Свой GPT за час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датасета до HuggingFace Hub — два раза: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char-level руками и BPE через transformers.Trainer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3108960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4FD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char-level GPT · 645 760 параметров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77056" y="4297680"/>
            <a:ext cx="1931213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4FD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4297680"/>
            <a:ext cx="19312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+ Trainer · GPT-2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36285" y="4297680"/>
            <a:ext cx="1678838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F5B9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36285" y="4297680"/>
            <a:ext cx="16788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модели на HF Hub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 Пушкина (481 634 символа) · обучение на Apple GPU (mps) · ~2 минуты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Пять коробок и стрелка назад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17220" y="21945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7220" y="2194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00300" y="2423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903220" y="21945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03220" y="2194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6300" y="2423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189220" y="21945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89220" y="2194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(числа)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72300" y="2423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475220" y="21945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E2B4D"/>
          </a:solidFill>
          <a:ln w="25400">
            <a:solidFill>
              <a:srgbClr val="F5B9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75220" y="2194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58300" y="2423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761220" y="21945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61220" y="2194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след. токена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761220" y="37490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18223E"/>
          </a:solidFill>
          <a:ln w="19050">
            <a:solidFill>
              <a:srgbClr val="4FD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1220" y="3749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(cross-entropy)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61220" y="3108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508760" y="4160520"/>
            <a:ext cx="9144000" cy="0"/>
          </a:xfrm>
          <a:prstGeom prst="line">
            <a:avLst/>
          </a:prstGeom>
          <a:noFill/>
          <a:ln w="31750">
            <a:solidFill>
              <a:srgbClr val="F5B940"/>
            </a:solidFill>
            <a:prstDash val="dash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17220" y="425196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— правит веса модели, чтобы в следующий раз правда стала вероятнее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обучение LLM — хоть наш Пушкин, хоть Qwen — это эта схема. Весь ноутбук реализует её дважды.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УРОКА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получится: два артефакта на Hub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029200" cy="3840480"/>
          </a:xfrm>
          <a:prstGeom prst="roundRect">
            <a:avLst>
              <a:gd name="adj" fmla="val 1905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011680"/>
            <a:ext cx="457200" cy="457200"/>
          </a:xfrm>
          <a:prstGeom prst="ellipse">
            <a:avLst/>
          </a:prstGeom>
          <a:solidFill>
            <a:srgbClr val="4FD8C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9933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HOhus / pushkin-nano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4323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 №1 · Заход 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2971800"/>
            <a:ext cx="753466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4FD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71800"/>
            <a:ext cx="75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41602" y="2971800"/>
            <a:ext cx="1258214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4FD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41602" y="2971800"/>
            <a:ext cx="12582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tiny-gpt-char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352044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Char-level TinyGPT, обученный руками.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артефакт: голый state_dict + свой vocab.json. Сохранён через torch.save и upload_folder.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1737360"/>
            <a:ext cx="5029200" cy="3840480"/>
          </a:xfrm>
          <a:prstGeom prst="roundRect">
            <a:avLst>
              <a:gd name="adj" fmla="val 1905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rgbClr val="F5B94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19933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HOhus / pushkin-nano-bpe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24323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 №2 · Заход 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0" y="2971800"/>
            <a:ext cx="1174090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F5B9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971800"/>
            <a:ext cx="11740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02906" y="2971800"/>
            <a:ext cx="501091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F5B9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02906" y="2971800"/>
            <a:ext cx="5010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352044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на BPE через Trainer.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HF-нативная модель: Safetensors, авто-карточка, кнопка «Use this model». Залита через push_to_hub.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модели сделаны из одного корпуса Пушкина — в этом и смысл «build-twice».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0–1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Окружение и корпус Пушкина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3703320"/>
          </a:xfrm>
          <a:prstGeom prst="roundRect">
            <a:avLst>
              <a:gd name="adj" fmla="val 1975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B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mps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— Apple GPU (torch 2.12.0)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B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уникальных символов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B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481 634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05840" y="38404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символа в корпусе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B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433k / 48k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83280" y="38404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токенов train / val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4663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 — public domain Пушкин. На Mac докачали через curl: в urllib падал SSL-сертификат.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111A33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27648" y="18928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data/pushkin.txt — начало корпуса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27648" y="2203704"/>
            <a:ext cx="475488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Так и мне узнать случилось,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за птица Купидон;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Сердце страстное пленилось;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Признаюсь – и я влюблен!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Пролетело счастья время,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Как, любви не зная бремя…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Char-level токенизатор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81456" y="1783080"/>
            <a:ext cx="10198608" cy="2670048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Users/ivantrubnikov/Documents/claude/Train_of_Thought/git/Train_of_Thought-homework/notebooks/module-5-own-gpt/char_tok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60" y="1929384"/>
            <a:ext cx="9906000" cy="2377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079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char_tokens.png — каждый символ «Привет» стоит ровно над своим числом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452628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= 140 уникальных символов корпуса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encode: символ → число   ·   decode: число → символ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Никакого обучения токенизатора — просто перечислили символы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75120" y="4526280"/>
            <a:ext cx="4572000" cy="1600200"/>
          </a:xfrm>
          <a:prstGeom prst="roundRect">
            <a:avLst>
              <a:gd name="adj" fmla="val 4571"/>
            </a:avLst>
          </a:prstGeom>
          <a:solidFill>
            <a:srgbClr val="1E2B4D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949440" y="4709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видит только нижний ряд чисел —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49440" y="5074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B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букв она не знает.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949440" y="5577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Появляется после ячейки «Покажем токенизацию глазами» (Шаг 2).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Минимальный GPT — три части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346704" cy="3931920"/>
          </a:xfrm>
          <a:prstGeom prst="roundRect">
            <a:avLst>
              <a:gd name="adj" fmla="val 2186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F5B94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9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0200" y="204825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CausalSelfAttention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27980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«Внимание»: каждый токен оглядывается назад и подтягивает смысл у предыдущих. Маска не даёт смотреть в будущее.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5029200"/>
            <a:ext cx="2798064" cy="502920"/>
          </a:xfrm>
          <a:prstGeom prst="roundRect">
            <a:avLst>
              <a:gd name="adj" fmla="val 10909"/>
            </a:avLst>
          </a:prstGeom>
          <a:solidFill>
            <a:srgbClr val="111A33"/>
          </a:solidFill>
          <a:ln w="12700">
            <a:solidFill>
              <a:srgbClr val="4FD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02920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вход (1,5,32) → выход (1,5,32)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61104" y="1783080"/>
            <a:ext cx="3346704" cy="3931920"/>
          </a:xfrm>
          <a:prstGeom prst="roundRect">
            <a:avLst>
              <a:gd name="adj" fmla="val 2186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35424" y="2011680"/>
            <a:ext cx="566928" cy="566928"/>
          </a:xfrm>
          <a:prstGeom prst="ellipse">
            <a:avLst/>
          </a:prstGeom>
          <a:solidFill>
            <a:srgbClr val="F5B9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35424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9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21224" y="204825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35424" y="2788920"/>
            <a:ext cx="27980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слой: внимание + маленькая MLP, обёрнутые в residual (x + …) и LayerNorm. Таких блоков несколько — это глубина.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35424" y="5029200"/>
            <a:ext cx="2798064" cy="502920"/>
          </a:xfrm>
          <a:prstGeom prst="roundRect">
            <a:avLst>
              <a:gd name="adj" fmla="val 10909"/>
            </a:avLst>
          </a:prstGeom>
          <a:solidFill>
            <a:srgbClr val="111A33"/>
          </a:solidFill>
          <a:ln w="12700">
            <a:solidFill>
              <a:srgbClr val="4FD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502920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форма сохраняется → блоки в стопку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82128" y="1783080"/>
            <a:ext cx="3346704" cy="3931920"/>
          </a:xfrm>
          <a:prstGeom prst="roundRect">
            <a:avLst>
              <a:gd name="adj" fmla="val 2186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56448" y="2011680"/>
            <a:ext cx="566928" cy="566928"/>
          </a:xfrm>
          <a:prstGeom prst="ellipse">
            <a:avLst/>
          </a:prstGeom>
          <a:solidFill>
            <a:srgbClr val="F5B940"/>
          </a:solidFill>
          <a:ln/>
        </p:spPr>
      </p:sp>
      <p:sp>
        <p:nvSpPr>
          <p:cNvPr id="23" name="Text 21"/>
          <p:cNvSpPr/>
          <p:nvPr/>
        </p:nvSpPr>
        <p:spPr>
          <a:xfrm>
            <a:off x="815644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9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842248" y="204825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TinyGPT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156448" y="2788920"/>
            <a:ext cx="27980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вместе: эмбеддинги (токен + позиция) → стопка блоков → голова даёт очки по всему словарю.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56448" y="5029200"/>
            <a:ext cx="2798064" cy="502920"/>
          </a:xfrm>
          <a:prstGeom prst="roundRect">
            <a:avLst>
              <a:gd name="adj" fmla="val 10909"/>
            </a:avLst>
          </a:prstGeom>
          <a:solidFill>
            <a:srgbClr val="111A33"/>
          </a:solidFill>
          <a:ln w="12700">
            <a:solidFill>
              <a:srgbClr val="4FD8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56448" y="502920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выход (1,5,10) = очки по словарю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каждой части — ячейка-проверка печатает форму выхода: кусок живой.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Куда уходят 645 760 параметров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93776" y="1783080"/>
            <a:ext cx="6876288" cy="3218688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Users/ivantrubnikov/Documents/claude/Train_of_Thought/git/Train_of_Thought-homework/notebooks/module-5-own-gpt/params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9384"/>
            <a:ext cx="658368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0566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params_breakdown.png — разбивка реальной модели по группам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80960" y="1783080"/>
            <a:ext cx="3566160" cy="3703320"/>
          </a:xfrm>
          <a:prstGeom prst="roundRect">
            <a:avLst>
              <a:gd name="adj" fmla="val 2051"/>
            </a:avLst>
          </a:prstGeom>
          <a:solidFill>
            <a:srgbClr val="1E2B4D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5528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B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61%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795528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параметров — в MLP внутри блоков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33832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(n_layer) и ширина (n_embd) растят модель быстрее всего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добавляет к эмбеддингам и голове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GPT-4 та же схема — просто числа крупнее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Обучение = сердце pretraining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111A33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8928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pretraining — это 4 строки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203704"/>
            <a:ext cx="4663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train_step(x, y):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_, loss = model(x, y)        # 1 forward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opt.zero_grad(set_to_none=True)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loss.backward()              # 3 backward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opt.step()                   # 4 шаг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loss.item()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43016" y="1554480"/>
            <a:ext cx="5550408" cy="3213608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11" name="Image 0" descr="/Users/ivantrubnikov/Documents/claude/Train_of_Thought/git/Train_of_Thought-homework/notebooks/module-5-own-gpt/loss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700784"/>
            <a:ext cx="5257800" cy="2921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89320" y="482295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loss_curve.png — как падает loss = как модель учится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470916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1E2B4D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6012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B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5.09 → 2.42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60120" y="5394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за 38 секунд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383280" y="4892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B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4.94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383280" y="53949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случайная угадайка = ln(140)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89320" y="49834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цикл, что в micrograd (4a) и nano-GPT (4b) — вырос только размер модели.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6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Одна модель, три температуры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456432" cy="4160520"/>
          </a:xfrm>
          <a:prstGeom prst="roundRect">
            <a:avLst>
              <a:gd name="adj" fmla="val 2116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96596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D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повторы / зацикливание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68680" y="2788920"/>
            <a:ext cx="2999232" cy="0"/>
          </a:xfrm>
          <a:prstGeom prst="line">
            <a:avLst/>
          </a:prstGeom>
          <a:noFill/>
          <a:ln w="12700">
            <a:solidFill>
              <a:srgbClr val="2B37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26080"/>
            <a:ext cx="304495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 помню чудное мгновенье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 старнов в посто полодальной соной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 сто в серной посто полой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 в сто сто се предной постой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 то верой на сто поленной потой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2544" y="1783080"/>
            <a:ext cx="3456432" cy="4160520"/>
          </a:xfrm>
          <a:prstGeom prst="roundRect">
            <a:avLst>
              <a:gd name="adj" fmla="val 2116"/>
            </a:avLst>
          </a:prstGeom>
          <a:solidFill>
            <a:srgbClr val="1E2B4D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2544" y="1783080"/>
            <a:ext cx="3456432" cy="4160520"/>
          </a:xfrm>
          <a:prstGeom prst="roundRect">
            <a:avLst>
              <a:gd name="adj" fmla="val 2116"/>
            </a:avLst>
          </a:prstGeom>
          <a:ln w="31750">
            <a:solidFill>
              <a:srgbClr val="F5B9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196596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81144" y="224028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B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псевдопушкин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81144" y="2788920"/>
            <a:ext cx="2999232" cy="0"/>
          </a:xfrm>
          <a:prstGeom prst="line">
            <a:avLst/>
          </a:prstGeom>
          <a:noFill/>
          <a:ln w="12700">
            <a:solidFill>
              <a:srgbClr val="2B37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2926080"/>
            <a:ext cx="304495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 помню чудное мгновенье,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Него жна влаовою пин застрой…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Взалини веридалося не из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Гдиков гри полизужи момрены,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Зах не тышебесь нас стной.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65008" y="1783080"/>
            <a:ext cx="3456432" cy="4160520"/>
          </a:xfrm>
          <a:prstGeom prst="roundRect">
            <a:avLst>
              <a:gd name="adj" fmla="val 2116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93608" y="196596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1.5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224028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бред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293608" y="2788920"/>
            <a:ext cx="2999232" cy="0"/>
          </a:xfrm>
          <a:prstGeom prst="line">
            <a:avLst/>
          </a:prstGeom>
          <a:noFill/>
          <a:ln w="12700">
            <a:solidFill>
              <a:srgbClr val="2B37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926080"/>
            <a:ext cx="304495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 помню чудное мгновеньее.!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Ис-швознерчатвонец зна ли,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Сы бумк боил, че укочной…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О; оне: ньстилю-згуда!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натяски: лаш несат?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model.generate — меняется только температура. Низкая = безопасно и скучно, высокая = креативно и рискованно.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7 · СКРИНШОТ №1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Артефакт №1 на Hub — pushkin-nano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2203B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011680"/>
            <a:ext cx="384048" cy="384048"/>
          </a:xfrm>
          <a:prstGeom prst="ellipse">
            <a:avLst/>
          </a:prstGeom>
          <a:solidFill>
            <a:srgbClr val="4FD8C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9933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HOhus / pushkin-nano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753466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4FD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42032"/>
            <a:ext cx="75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795882" y="2542032"/>
            <a:ext cx="1258214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4FD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95882" y="2542032"/>
            <a:ext cx="12582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tiny-gpt-char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and versions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291840"/>
            <a:ext cx="4846320" cy="457200"/>
          </a:xfrm>
          <a:prstGeom prst="rect">
            <a:avLst/>
          </a:prstGeom>
          <a:solidFill>
            <a:srgbClr val="18223E"/>
          </a:solidFill>
          <a:ln w="6350">
            <a:solidFill>
              <a:srgbClr val="2B37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.gitattributes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 kB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803904"/>
            <a:ext cx="4846320" cy="457200"/>
          </a:xfrm>
          <a:prstGeom prst="rect">
            <a:avLst/>
          </a:prstGeom>
          <a:solidFill>
            <a:srgbClr val="18223E"/>
          </a:solidFill>
          <a:ln w="6350">
            <a:solidFill>
              <a:srgbClr val="2B37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8039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380390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315968"/>
            <a:ext cx="4846320" cy="457200"/>
          </a:xfrm>
          <a:prstGeom prst="rect">
            <a:avLst/>
          </a:prstGeom>
          <a:solidFill>
            <a:srgbClr val="18223E"/>
          </a:solidFill>
          <a:ln w="6350">
            <a:solidFill>
              <a:srgbClr val="2B37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159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pytorch_model.bin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0" y="43159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2.79 MB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4828032"/>
            <a:ext cx="4846320" cy="457200"/>
          </a:xfrm>
          <a:prstGeom prst="rect">
            <a:avLst/>
          </a:prstGeom>
          <a:solidFill>
            <a:srgbClr val="18223E"/>
          </a:solidFill>
          <a:ln w="6350">
            <a:solidFill>
              <a:srgbClr val="2B37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8280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vocab.json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48280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346 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53583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2 commits · «Upload folder using huggingface_hub»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1920240"/>
            <a:ext cx="91440" cy="914400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18836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КАКИХ ДЕЙСТВИЙ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75120" y="21762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torch.save(state_dict) → create_repo → upload_folder (Шаг 7).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00800" y="3200400"/>
            <a:ext cx="91440" cy="914400"/>
          </a:xfrm>
          <a:prstGeom prst="rect">
            <a:avLst/>
          </a:prstGeom>
          <a:solidFill>
            <a:srgbClr val="4FD8C8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31638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ЧЕГО НУЖЕН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675120" y="34564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Версионируешь и шеришь веса: любой скачает model + vocab + config одной командой.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0" y="4480560"/>
            <a:ext cx="91440" cy="914400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44439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НАШЕМ ПРИМЕРЕ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675120" y="47365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«Ручной» артефакт — голый PyTorch state_dict. Hub не знает архитектуру, грузить надо своим кодом.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ЗАХОД 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BPE — те же слова, меньше токенов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93776" y="1783080"/>
            <a:ext cx="6967728" cy="2740152"/>
          </a:xfrm>
          <a:prstGeom prst="roundRect">
            <a:avLst>
              <a:gd name="adj" fmla="val 20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Users/ivantrubnikov/Documents/claude/Train_of_Thought/git/Train_of_Thought-homework/notebooks/module-5-own-gpt/tokenization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9384"/>
            <a:ext cx="6675120" cy="24475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809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tokenization_compare.png — «Я помню чудное мгновенье» в char и BPE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0" y="1783080"/>
            <a:ext cx="3474720" cy="3703320"/>
          </a:xfrm>
          <a:prstGeom prst="roundRect">
            <a:avLst>
              <a:gd name="adj" fmla="val 2105"/>
            </a:avLst>
          </a:prstGeom>
          <a:solidFill>
            <a:srgbClr val="1E2B4D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46720" y="2057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B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→ 11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804672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токенов на ту же фразу (char → BPE)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46720" y="32918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BPE = 1024 (склеенные частые куски)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токенов → больше текста за тот же compute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токенизируют настоящие LLM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ЗАХОД 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Тот же цикл — через transformers.Trainer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035040" cy="3703320"/>
          </a:xfrm>
          <a:prstGeom prst="roundRect">
            <a:avLst>
              <a:gd name="adj" fmla="val 1975"/>
            </a:avLst>
          </a:prstGeom>
          <a:solidFill>
            <a:srgbClr val="111A33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89280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строк вместо ручного цикла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203704"/>
            <a:ext cx="566928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 = GPT2Config(vocab_size=tok.vocab_size,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n_positions=128, n_embd=128,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n_layer=3, n_head=4)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model_bpe = GPT2LMHeadModel(cfg).to(DEVICE)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 = TrainingArguments(num_train_epochs=1,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learning_rate=3e-4)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Trainer(model=model_bpe, args=args,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train_dataset=ds).train()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40880" y="1783080"/>
            <a:ext cx="4206240" cy="3703320"/>
          </a:xfrm>
          <a:prstGeom prst="roundRect">
            <a:avLst>
              <a:gd name="adj" fmla="val 1975"/>
            </a:avLst>
          </a:prstGeom>
          <a:solidFill>
            <a:srgbClr val="1E2B4D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6092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B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Trainer делает то же самое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60920" y="26974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→ zero_grad → backward → step — всё внутри .train()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742 528 параметров (GPT-2)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Обучился 116 шагов за 1 эпоху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60920" y="4892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цикл показал ЧТО внутри. Trainer показывает, как это в проде.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ЗАХОД 2 · СКРИНШОТ №2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Артефакт №2 — pushkin-nano-bpe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2203B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011680"/>
            <a:ext cx="384048" cy="384048"/>
          </a:xfrm>
          <a:prstGeom prst="ellipse">
            <a:avLst/>
          </a:prstGeom>
          <a:solidFill>
            <a:srgbClr val="F5B94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HOhus / pushkin-nano-bpe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1426464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F5B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4203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2542032"/>
            <a:ext cx="1174090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F5B9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542032"/>
            <a:ext cx="11740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70986" y="2542032"/>
            <a:ext cx="1089965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F5B9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0986" y="2542032"/>
            <a:ext cx="10899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Safetensors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2962656"/>
            <a:ext cx="501091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4FD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962656"/>
            <a:ext cx="5010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543507" y="2962656"/>
            <a:ext cx="2267712" cy="310896"/>
          </a:xfrm>
          <a:prstGeom prst="roundRect">
            <a:avLst>
              <a:gd name="adj" fmla="val 20588"/>
            </a:avLst>
          </a:prstGeom>
          <a:solidFill>
            <a:srgbClr val="1E2B4D"/>
          </a:solidFill>
          <a:ln w="12700">
            <a:solidFill>
              <a:srgbClr val="4FD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43507" y="296265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text-generation-inference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361188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611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Safetensors  </a:t>
            </a:r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742k params · F32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4572000"/>
            <a:ext cx="841248" cy="411480"/>
          </a:xfrm>
          <a:prstGeom prst="roundRect">
            <a:avLst>
              <a:gd name="adj" fmla="val 13333"/>
            </a:avLst>
          </a:prstGeom>
          <a:solidFill>
            <a:srgbClr val="F5B940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57200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31720" y="4572000"/>
            <a:ext cx="1536192" cy="411480"/>
          </a:xfrm>
          <a:prstGeom prst="roundRect">
            <a:avLst>
              <a:gd name="adj" fmla="val 13333"/>
            </a:avLst>
          </a:prstGeom>
          <a:solidFill>
            <a:srgbClr val="F5B940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45720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model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51960" y="4572000"/>
            <a:ext cx="1970532" cy="411480"/>
          </a:xfrm>
          <a:prstGeom prst="roundRect">
            <a:avLst>
              <a:gd name="adj" fmla="val 13333"/>
            </a:avLst>
          </a:prstGeom>
          <a:solidFill>
            <a:srgbClr val="F5B940"/>
          </a:solidFill>
          <a:ln/>
        </p:spPr>
      </p:sp>
      <p:sp>
        <p:nvSpPr>
          <p:cNvPr id="28" name="Text 26"/>
          <p:cNvSpPr/>
          <p:nvPr/>
        </p:nvSpPr>
        <p:spPr>
          <a:xfrm>
            <a:off x="4251960" y="4572000"/>
            <a:ext cx="19705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Providers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5120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Авто-сгенерированная Model card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1920240"/>
            <a:ext cx="91440" cy="914400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18836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КАКИХ ДЕЙСТВИЙ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675120" y="21762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model_bpe.push_to_hub(...) + tok.push_to_hub(...) (Заход 2).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400800" y="3200400"/>
            <a:ext cx="91440" cy="914400"/>
          </a:xfrm>
          <a:prstGeom prst="rect">
            <a:avLst/>
          </a:prstGeom>
          <a:solidFill>
            <a:srgbClr val="4FD8C8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31638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ЧЕГО НУЖЕН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675120" y="34564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HF-нативная модель: Safetensors, авто-карточка, кнопки Use this model / Deploy / Inference.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400800" y="4480560"/>
            <a:ext cx="91440" cy="914400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44439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НАШЕМ ПРИМЕРЕ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675120" y="47365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узнаёт архитектуру gpt2 → грузится через AutoModel и инференсится из коробки.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СКРИНШОТА РЯДОМ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Ручной артефакт ⟷ нативная модель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69080"/>
                <a:gridCol w="4069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pushkin-nano (char)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D8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pushkin-nano-bpe (BPE)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9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3A1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лежит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state_dict + vocab.json + config.json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Safetensors + config + generation config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3A1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 весов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pytorch_model.bin (сырой)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model.safetensors (безопасный)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3A1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(ручной upload)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авто-сгенерирована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3A1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загрузить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свой код + state_dict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AutoModel.from_pretrained(...)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3A1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знает архитектуру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— тег tiny-gpt-char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— gpt2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3A1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Кнопка «Use this model»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есть, + Deploy / Inference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скриншота про одно: разница между «сохранил веса руками» и «сдал модель в экосистему».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475488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ВСЁ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Главный урок и задачи-доработки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937760" cy="3931920"/>
          </a:xfrm>
          <a:prstGeom prst="roundRect">
            <a:avLst>
              <a:gd name="adj" fmla="val 1860"/>
            </a:avLst>
          </a:prstGeom>
          <a:solidFill>
            <a:srgbClr val="1E2B4D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148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5B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«ChatGPT за час» не выйдет.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Маленькая модель учит структуру языка — ритм, окончания, форму строфы. Смысл приходит только от масштаба.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49377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видно по сэмплам: ритм есть — смысла ещё нет.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8076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— правим рабочий код и смотрим, что меняется: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2286000"/>
            <a:ext cx="411480" cy="411480"/>
          </a:xfrm>
          <a:prstGeom prst="ellipse">
            <a:avLst/>
          </a:prstGeom>
          <a:solidFill>
            <a:srgbClr val="F5B940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2240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Температуры: добавь 0.5 и 2.0 — где псевдопушкин, где бред?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80760" y="3054096"/>
            <a:ext cx="411480" cy="411480"/>
          </a:xfrm>
          <a:prstGeom prst="ellipse">
            <a:avLst/>
          </a:prstGeom>
          <a:solidFill>
            <a:srgbClr val="F5B940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30083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prompt — посмотри продолжение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80760" y="3822192"/>
            <a:ext cx="411480" cy="411480"/>
          </a:xfrm>
          <a:prstGeom prst="ellipse">
            <a:avLst/>
          </a:prstGeom>
          <a:solidFill>
            <a:srgbClr val="F5B940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3822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37764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n_steps ×1.5–2 — loss падает дальше или вышел на плато?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80760" y="4590288"/>
            <a:ext cx="411480" cy="411480"/>
          </a:xfrm>
          <a:prstGeom prst="ellipse">
            <a:avLst/>
          </a:prstGeom>
          <a:solidFill>
            <a:srgbClr val="F5B940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4590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5445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модель: подними n_layer / n_embd — как изменились параметры и loss?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80760" y="5358384"/>
            <a:ext cx="411480" cy="411480"/>
          </a:xfrm>
          <a:prstGeom prst="ellipse">
            <a:avLst/>
          </a:prstGeom>
          <a:solidFill>
            <a:srgbClr val="F5B940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5358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53126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(adv) top-p: добавь nucleus-сэмплинг рядом с top_k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Свой GPT за час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B9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B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097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Чек перед сдачей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FD8C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240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Ноутбук прогнан целиком (Run all) без правок — val loss упал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285292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FD8C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8072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Сэмплы при temperature 0.1 / 0.8 / 1.5 распечатаны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FD8C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37413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Сделаны задачи-доработки (мин. 3 из 5) с короткими выводами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398678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FD8C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94106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Hub лежат pushkin-nano (char) и pushkin-nano-bpe (BPE)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8223E"/>
          </a:solidFill>
          <a:ln w="12700">
            <a:solidFill>
              <a:srgbClr val="2B376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A1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Артефакты:  </a:t>
            </a:r>
            <a:pPr indent="0" marL="0">
              <a:buNone/>
            </a:pPr>
            <a:r>
              <a:rPr lang="en-US" sz="1300" dirty="0">
                <a:solidFill>
                  <a:srgbClr val="4F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huggingface.co/HOhus/pushkin-nano</a:t>
            </a:r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F5B9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huggingface.co/HOhus/pushkin-nano-bpe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Модуль 5.5: Как LLM думает (ментальная модель и сэмплинг).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 5 — Свой GPT за час</dc:title>
  <dc:subject>PptxGenJS Presentation</dc:subject>
  <dc:creator>Train_of_Thought</dc:creator>
  <cp:lastModifiedBy>Train_of_Thought</cp:lastModifiedBy>
  <cp:revision>1</cp:revision>
  <dcterms:created xsi:type="dcterms:W3CDTF">2026-06-14T17:07:43Z</dcterms:created>
  <dcterms:modified xsi:type="dcterms:W3CDTF">2026-06-14T17:07:43Z</dcterms:modified>
</cp:coreProperties>
</file>